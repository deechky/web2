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89320"/>
            <a:ext cx="12191695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4FD1C5"/>
                </a:solidFill>
                <a:latin typeface="Calibri"/>
              </a:rPr>
              <a:t>ЗАВРШНИ РАД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Имплементација обсервабилности</a:t>
            </a:r>
          </a:p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микросервисне архитектуре</a:t>
            </a:r>
          </a:p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на примеру TravelPlanner апликације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920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Дајана Булић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492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7CED9"/>
                </a:solidFill>
                <a:latin typeface="Calibri"/>
              </a:rPr>
              <a:t>Ментор: др Себастијан Стоја, доцент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3A0"/>
                </a:solidFill>
                <a:latin typeface="Calibri"/>
              </a:rPr>
              <a:t>Факултет техничких наука, Универзитет у Новом Саду — Примењено софтверско инжењерство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C8C82"/>
                </a:solidFill>
                <a:latin typeface="Calibri"/>
              </a:rPr>
              <a:t>УВОД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F2B"/>
                </a:solidFill>
                <a:latin typeface="Calibri"/>
              </a:rPr>
              <a:t>Travel Planner — постојећа апликација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2C8C82"/>
                </a:solidFill>
                <a:latin typeface="Calibri"/>
              </a:rPr>
              <a:t>▪  </a:t>
            </a:r>
            <a:r>
              <a:rPr sz="1700">
                <a:solidFill>
                  <a:srgbClr val="1A1F2B"/>
                </a:solidFill>
                <a:latin typeface="Calibri"/>
              </a:rPr>
              <a:t>Микросервисна веб апликација за планирање путовања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2C8C82"/>
                </a:solidFill>
                <a:latin typeface="Calibri"/>
              </a:rPr>
              <a:t>▪  </a:t>
            </a:r>
            <a:r>
              <a:rPr sz="1700">
                <a:solidFill>
                  <a:srgbClr val="1A1F2B"/>
                </a:solidFill>
                <a:latin typeface="Calibri"/>
              </a:rPr>
              <a:t>Планови путовања, дестинације, активности, буџет, checklist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2C8C82"/>
                </a:solidFill>
                <a:latin typeface="Calibri"/>
              </a:rPr>
              <a:t>▪  </a:t>
            </a:r>
            <a:r>
              <a:rPr sz="1700">
                <a:solidFill>
                  <a:srgbClr val="1A1F2B"/>
                </a:solidFill>
                <a:latin typeface="Calibri"/>
              </a:rPr>
              <a:t>Дељење плана путем кода или QR кода са другим особама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2C8C82"/>
                </a:solidFill>
                <a:latin typeface="Calibri"/>
              </a:rPr>
              <a:t>▪  </a:t>
            </a:r>
            <a:r>
              <a:rPr sz="1700">
                <a:solidFill>
                  <a:srgbClr val="1A1F2B"/>
                </a:solidFill>
                <a:latin typeface="Calibri"/>
              </a:rPr>
              <a:t>Реализована кроз четири одвојена сервиса на Microsoft Service Fabric платформи</a:t>
            </a:r>
          </a:p>
        </p:txBody>
      </p:sp>
      <p:pic>
        <p:nvPicPr>
          <p:cNvPr id="7" name="Picture 6" descr="slika_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704565"/>
            <a:ext cx="5852160" cy="4271829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C8C82"/>
                </a:solidFill>
                <a:latin typeface="Calibri"/>
              </a:rPr>
              <a:t>ПРОБЛЕМ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F2B"/>
                </a:solidFill>
                <a:latin typeface="Calibri"/>
              </a:rPr>
              <a:t>Микросервиси су тешки за праћење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1">
                <a:solidFill>
                  <a:srgbClr val="1A1F2B"/>
                </a:solidFill>
                <a:latin typeface="Calibri"/>
              </a:rPr>
              <a:t>Један кориснички захтев пролази кроз више процеса, база и мрежних позива — монолитна интуиција „погледај један логфајл” више не важи.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103327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2200" b="1">
                <a:solidFill>
                  <a:srgbClr val="E05757"/>
                </a:solidFill>
                <a:latin typeface="Calibri"/>
              </a:rPr>
              <a:t>▪  </a:t>
            </a:r>
            <a:r>
              <a:rPr sz="2200">
                <a:solidFill>
                  <a:srgbClr val="1A1F2B"/>
                </a:solidFill>
                <a:latin typeface="Calibri"/>
              </a:rPr>
              <a:t>„Зашто је овај захтев спор?“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2200" b="1">
                <a:solidFill>
                  <a:srgbClr val="E05757"/>
                </a:solidFill>
                <a:latin typeface="Calibri"/>
              </a:rPr>
              <a:t>▪  </a:t>
            </a:r>
            <a:r>
              <a:rPr sz="2200">
                <a:solidFill>
                  <a:srgbClr val="1A1F2B"/>
                </a:solidFill>
                <a:latin typeface="Calibri"/>
              </a:rPr>
              <a:t>„Где тачно долази до грешке?“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2200" b="1">
                <a:solidFill>
                  <a:srgbClr val="E05757"/>
                </a:solidFill>
                <a:latin typeface="Calibri"/>
              </a:rPr>
              <a:t>▪  </a:t>
            </a:r>
            <a:r>
              <a:rPr sz="2200">
                <a:solidFill>
                  <a:srgbClr val="1A1F2B"/>
                </a:solidFill>
                <a:latin typeface="Calibri"/>
              </a:rPr>
              <a:t>„Да ли је систем тренутно здрав?“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607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5A6370"/>
                </a:solidFill>
                <a:latin typeface="Calibri"/>
              </a:rPr>
              <a:t>Питања на која постојећи Travel Planner систем није могао да одговори.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C8C82"/>
                </a:solidFill>
                <a:latin typeface="Calibri"/>
              </a:rPr>
              <a:t>ЦИЉ РАДА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F2B"/>
                </a:solidFill>
                <a:latin typeface="Calibri"/>
              </a:rPr>
              <a:t>Шта овај рад доказује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0789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2C8C82"/>
                </a:solidFill>
                <a:latin typeface="Calibri"/>
              </a:rPr>
              <a:t>▪  </a:t>
            </a:r>
            <a:r>
              <a:rPr sz="1800">
                <a:solidFill>
                  <a:srgbClr val="1A1F2B"/>
                </a:solidFill>
                <a:latin typeface="Calibri"/>
              </a:rPr>
              <a:t>Анализирати постојећи систем са аспекта обсервабилности и идентификовати конкретне недостатке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2C8C82"/>
                </a:solidFill>
                <a:latin typeface="Calibri"/>
              </a:rPr>
              <a:t>▪  </a:t>
            </a:r>
            <a:r>
              <a:rPr sz="1800">
                <a:solidFill>
                  <a:srgbClr val="1A1F2B"/>
                </a:solidFill>
                <a:latin typeface="Calibri"/>
              </a:rPr>
              <a:t>Надоградити систем слојем обсервабилности заснованим на индустријском стандарду OpenTelemetry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2C8C82"/>
                </a:solidFill>
                <a:latin typeface="Calibri"/>
              </a:rPr>
              <a:t>▪  </a:t>
            </a:r>
            <a:r>
              <a:rPr sz="1800">
                <a:solidFill>
                  <a:srgbClr val="1A1F2B"/>
                </a:solidFill>
                <a:latin typeface="Calibri"/>
              </a:rPr>
              <a:t>Не мењати постојећу пословну логику (планове, дестинације, трошкове)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2C8C82"/>
                </a:solidFill>
                <a:latin typeface="Calibri"/>
              </a:rPr>
              <a:t>▪  </a:t>
            </a:r>
            <a:r>
              <a:rPr sz="1800">
                <a:solidFill>
                  <a:srgbClr val="1A1F2B"/>
                </a:solidFill>
                <a:latin typeface="Calibri"/>
              </a:rPr>
              <a:t>Доказати надоградњу кроз стварно извршавање, аутоматизоване тестове и мерљиве резултате — не само инсталацију алата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C8C82"/>
                </a:solidFill>
                <a:latin typeface="Calibri"/>
              </a:rPr>
              <a:t>АНАЛИЗА ПОСТОЈЕЋЕГ РЕШЕЊА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F2B"/>
                </a:solidFill>
                <a:latin typeface="Calibri"/>
              </a:rPr>
              <a:t>Архитектура пре надоградње (AS-IS)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672" y="1554480"/>
            <a:ext cx="6022335" cy="4754880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595360" y="1737360"/>
            <a:ext cx="31089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1">
                <a:solidFill>
                  <a:srgbClr val="2C8C82"/>
                </a:solidFill>
                <a:latin typeface="Calibri"/>
              </a:rPr>
              <a:t>▪  </a:t>
            </a:r>
            <a:r>
              <a:rPr sz="1400">
                <a:solidFill>
                  <a:srgbClr val="1A1F2B"/>
                </a:solidFill>
                <a:latin typeface="Calibri"/>
              </a:rPr>
              <a:t>Gateway, AuthService, TripService — stateless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1">
                <a:solidFill>
                  <a:srgbClr val="2C8C82"/>
                </a:solidFill>
                <a:latin typeface="Calibri"/>
              </a:rPr>
              <a:t>▪  </a:t>
            </a:r>
            <a:r>
              <a:rPr sz="1400">
                <a:solidFill>
                  <a:srgbClr val="1A1F2B"/>
                </a:solidFill>
                <a:latin typeface="Calibri"/>
              </a:rPr>
              <a:t>SharingService — stateful (Reliable Collections кеш)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1">
                <a:solidFill>
                  <a:srgbClr val="2C8C82"/>
                </a:solidFill>
                <a:latin typeface="Calibri"/>
              </a:rPr>
              <a:t>▪  </a:t>
            </a:r>
            <a:r>
              <a:rPr sz="1400">
                <a:solidFill>
                  <a:srgbClr val="1A1F2B"/>
                </a:solidFill>
                <a:latin typeface="Calibri"/>
              </a:rPr>
              <a:t>База по сервису (database-per-service)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C8C82"/>
                </a:solidFill>
                <a:latin typeface="Calibri"/>
              </a:rPr>
              <a:t>АНАЛИЗА ПОСТОЈЕЋЕГ РЕШЕЊА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F2B"/>
                </a:solidFill>
                <a:latin typeface="Calibri"/>
              </a:rPr>
              <a:t>Идентификовани недостаци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07899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E05757"/>
                </a:solidFill>
                <a:latin typeface="Calibri"/>
              </a:rPr>
              <a:t>▪  </a:t>
            </a:r>
            <a:r>
              <a:rPr sz="1800">
                <a:solidFill>
                  <a:srgbClr val="1A1F2B"/>
                </a:solidFill>
                <a:latin typeface="Calibri"/>
              </a:rPr>
              <a:t>Немогуће праћење захтева кроз више сервиса — нема correlation/trace ID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E05757"/>
                </a:solidFill>
                <a:latin typeface="Calibri"/>
              </a:rPr>
              <a:t>▪  </a:t>
            </a:r>
            <a:r>
              <a:rPr sz="1800">
                <a:solidFill>
                  <a:srgbClr val="1A1F2B"/>
                </a:solidFill>
                <a:latin typeface="Calibri"/>
              </a:rPr>
              <a:t>Одсуство метрика перформанси — CPU, меморија, латенција, стопа грешака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E05757"/>
                </a:solidFill>
                <a:latin typeface="Calibri"/>
              </a:rPr>
              <a:t>▪  </a:t>
            </a:r>
            <a:r>
              <a:rPr sz="1800">
                <a:solidFill>
                  <a:srgbClr val="1A1F2B"/>
                </a:solidFill>
                <a:latin typeface="Calibri"/>
              </a:rPr>
              <a:t>„Тихе“ грешке — примери у коду који гутају грешке без иједног трага у логу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E05757"/>
                </a:solidFill>
                <a:latin typeface="Calibri"/>
              </a:rPr>
              <a:t>▪  </a:t>
            </a:r>
            <a:r>
              <a:rPr sz="1800">
                <a:solidFill>
                  <a:srgbClr val="1A1F2B"/>
                </a:solidFill>
                <a:latin typeface="Calibri"/>
              </a:rPr>
              <a:t>Одсуство health check механизама — ниједан сервис не пријављује да ли ради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E05757"/>
                </a:solidFill>
                <a:latin typeface="Calibri"/>
              </a:rPr>
              <a:t>▪  </a:t>
            </a:r>
            <a:r>
              <a:rPr sz="1800">
                <a:solidFill>
                  <a:srgbClr val="1A1F2B"/>
                </a:solidFill>
                <a:latin typeface="Calibri"/>
              </a:rPr>
              <a:t>Нестандардизовано, минимално логовање — 0 позива ILogger пре овог рада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C8C82"/>
                </a:solidFill>
                <a:latin typeface="Calibri"/>
              </a:rPr>
              <a:t>РЕШЕЊЕ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F2B"/>
                </a:solidFill>
                <a:latin typeface="Calibri"/>
              </a:rPr>
              <a:t>OpenTelemetry + Grafana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5A6370"/>
                </a:solidFill>
                <a:latin typeface="Calibri"/>
              </a:rPr>
              <a:t>Један, vendor-неутралан стандард уместо низа ad-hoc закрпа.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68880"/>
            <a:ext cx="3520440" cy="1874519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468880"/>
            <a:ext cx="35204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33472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E2E"/>
                </a:solidFill>
                <a:latin typeface="Calibri"/>
              </a:rPr>
              <a:t>OpenTelemetry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90672"/>
            <a:ext cx="3154680" cy="1097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A6370"/>
                </a:solidFill>
                <a:latin typeface="Calibri"/>
              </a:rPr>
              <a:t>Заједнички API/SDK за traces, metrics, logs — auto-инструментација за ASP.NET Core, HttpClient, SqlClient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2" y="2468880"/>
            <a:ext cx="3520440" cy="1874519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7952" y="2468880"/>
            <a:ext cx="35204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2633472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E2E"/>
                </a:solidFill>
                <a:latin typeface="Calibri"/>
              </a:rPr>
              <a:t>OpenTelemetry Collector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3090672"/>
            <a:ext cx="3154680" cy="1097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A6370"/>
                </a:solidFill>
                <a:latin typeface="Calibri"/>
              </a:rPr>
              <a:t>Централна тачка прикупљања телеметрије (OTLP, gRPC) — раздваја емисију од складиштења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72984" y="2468880"/>
            <a:ext cx="3520440" cy="1874519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72984" y="2468880"/>
            <a:ext cx="35204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55864" y="2633472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E2E"/>
                </a:solidFill>
                <a:latin typeface="Calibri"/>
              </a:rPr>
              <a:t>Prometheus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3090672"/>
            <a:ext cx="3154680" cy="1097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A6370"/>
                </a:solidFill>
                <a:latin typeface="Calibri"/>
              </a:rPr>
              <a:t>Складиштење и scrape метрика перформанси и извршног окружења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507991"/>
            <a:ext cx="3520440" cy="1874519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507991"/>
            <a:ext cx="35204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672583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E2E"/>
                </a:solidFill>
                <a:latin typeface="Calibri"/>
              </a:rPr>
              <a:t>Grafana Tempo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129783"/>
            <a:ext cx="3154680" cy="1097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A6370"/>
                </a:solidFill>
                <a:latin typeface="Calibri"/>
              </a:rPr>
              <a:t>Дистрибуирано праћење захтева (distributed tracing)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87952" y="4507991"/>
            <a:ext cx="3520440" cy="1874519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87952" y="4507991"/>
            <a:ext cx="35204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4672583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E2E"/>
                </a:solidFill>
                <a:latin typeface="Calibri"/>
              </a:rPr>
              <a:t>Grafana Loki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0832" y="5129783"/>
            <a:ext cx="3154680" cy="1097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A6370"/>
                </a:solidFill>
                <a:latin typeface="Calibri"/>
              </a:rPr>
              <a:t>Централизовани, структурисани логови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72984" y="4507991"/>
            <a:ext cx="3520440" cy="1874519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72984" y="4507991"/>
            <a:ext cx="35204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55864" y="4672583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E2E"/>
                </a:solidFill>
                <a:latin typeface="Calibri"/>
              </a:rPr>
              <a:t>Grafana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5129783"/>
            <a:ext cx="3154680" cy="1097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A6370"/>
                </a:solidFill>
                <a:latin typeface="Calibri"/>
              </a:rPr>
              <a:t>Јединствен визуелни слој — унакрсна навигација log → trace → metric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C8C82"/>
                </a:solidFill>
                <a:latin typeface="Calibri"/>
              </a:rPr>
              <a:t>РЕШЕЊЕ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F2B"/>
                </a:solidFill>
                <a:latin typeface="Calibri"/>
              </a:rPr>
              <a:t>TO-BE архитектура — додат observability слој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608" y="1554480"/>
            <a:ext cx="8982304" cy="4846320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C8C82"/>
                </a:solidFill>
                <a:latin typeface="Calibri"/>
              </a:rPr>
              <a:t>РЕШЕЊЕ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F2B"/>
                </a:solidFill>
                <a:latin typeface="Calibri"/>
              </a:rPr>
              <a:t>Health checks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2C8C82"/>
                </a:solidFill>
                <a:latin typeface="Calibri"/>
              </a:rPr>
              <a:t>▪  </a:t>
            </a:r>
            <a:r>
              <a:rPr sz="1600">
                <a:solidFill>
                  <a:srgbClr val="1A1F2B"/>
                </a:solidFill>
                <a:latin typeface="Calibri"/>
              </a:rPr>
              <a:t>/health/live — да ли процес живи (одлуке о рестарту)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2C8C82"/>
                </a:solidFill>
                <a:latin typeface="Calibri"/>
              </a:rPr>
              <a:t>▪  </a:t>
            </a:r>
            <a:r>
              <a:rPr sz="1600">
                <a:solidFill>
                  <a:srgbClr val="1A1F2B"/>
                </a:solidFill>
                <a:latin typeface="Calibri"/>
              </a:rPr>
              <a:t>/health/ready — да ли су критичне зависности спремне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2C8C82"/>
                </a:solidFill>
                <a:latin typeface="Calibri"/>
              </a:rPr>
              <a:t>▪  </a:t>
            </a:r>
            <a:r>
              <a:rPr sz="1600">
                <a:solidFill>
                  <a:srgbClr val="1A1F2B"/>
                </a:solidFill>
                <a:latin typeface="Calibri"/>
              </a:rPr>
              <a:t>Gateway проверава мрежну доступност downstream сервиса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2C8C82"/>
                </a:solidFill>
                <a:latin typeface="Calibri"/>
              </a:rPr>
              <a:t>▪  </a:t>
            </a:r>
            <a:r>
              <a:rPr sz="1600">
                <a:solidFill>
                  <a:srgbClr val="1A1F2B"/>
                </a:solidFill>
                <a:latin typeface="Calibri"/>
              </a:rPr>
              <a:t>Остали сервиси проверавају доступност сопствене SQL базе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2C8C82"/>
                </a:solidFill>
                <a:latin typeface="Calibri"/>
              </a:rPr>
              <a:t>▪  </a:t>
            </a:r>
            <a:r>
              <a:rPr sz="1600">
                <a:solidFill>
                  <a:srgbClr val="1A1F2B"/>
                </a:solidFill>
                <a:latin typeface="Calibri"/>
              </a:rPr>
              <a:t>Одговор: структурисан JSON, читљива порука грешке</a:t>
            </a:r>
          </a:p>
        </p:txBody>
      </p:sp>
      <p:pic>
        <p:nvPicPr>
          <p:cNvPr id="7" name="Picture 6" descr="json.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473" y="1554480"/>
            <a:ext cx="5082413" cy="4754880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C8C82"/>
                </a:solidFill>
                <a:latin typeface="Calibri"/>
              </a:rPr>
              <a:t>РЕШЕЊЕ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F2B"/>
                </a:solidFill>
                <a:latin typeface="Calibri"/>
              </a:rPr>
              <a:t>Grafana dashboard — све на једном месту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444" y="1508760"/>
            <a:ext cx="8760631" cy="4206240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594360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6370"/>
                </a:solidFill>
                <a:latin typeface="Calibri"/>
              </a:rPr>
              <a:t>RED метрике, ресурси (CPU/меморија/GC) и ток логова — филтрирано по сервису, на једном dashboard-у.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C8C82"/>
                </a:solidFill>
                <a:latin typeface="Calibri"/>
              </a:rPr>
              <a:t>ВЕРИФИКАЦИЈА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F2B"/>
                </a:solidFill>
                <a:latin typeface="Calibri"/>
              </a:rPr>
              <a:t>Тестирање — стратегија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07899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1">
                <a:solidFill>
                  <a:srgbClr val="2C8C82"/>
                </a:solidFill>
                <a:latin typeface="Calibri"/>
              </a:rPr>
              <a:t>▪  </a:t>
            </a:r>
            <a:r>
              <a:rPr sz="1700">
                <a:solidFill>
                  <a:srgbClr val="1A1F2B"/>
                </a:solidFill>
                <a:latin typeface="Calibri"/>
              </a:rPr>
              <a:t>Четири xUnit пројекта — по један за сваки сервис, прав Kestrel host, без mock-а базе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1">
                <a:solidFill>
                  <a:srgbClr val="2C8C82"/>
                </a:solidFill>
                <a:latin typeface="Calibri"/>
              </a:rPr>
              <a:t>▪  </a:t>
            </a:r>
            <a:r>
              <a:rPr sz="1700">
                <a:solidFill>
                  <a:srgbClr val="1A1F2B"/>
                </a:solidFill>
                <a:latin typeface="Calibri"/>
              </a:rPr>
              <a:t>HealthEndpointsTests — интеграциони тестови health check endpoint-а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1">
                <a:solidFill>
                  <a:srgbClr val="2C8C82"/>
                </a:solidFill>
                <a:latin typeface="Calibri"/>
              </a:rPr>
              <a:t>▪  </a:t>
            </a:r>
            <a:r>
              <a:rPr sz="1700">
                <a:solidFill>
                  <a:srgbClr val="1A1F2B"/>
                </a:solidFill>
                <a:latin typeface="Calibri"/>
              </a:rPr>
              <a:t>ObservabilityPipelineTests — да ли се OTel инструментација исправно активира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1">
                <a:solidFill>
                  <a:srgbClr val="2C8C82"/>
                </a:solidFill>
                <a:latin typeface="Calibri"/>
              </a:rPr>
              <a:t>▪  </a:t>
            </a:r>
            <a:r>
              <a:rPr sz="1700">
                <a:solidFill>
                  <a:srgbClr val="1A1F2B"/>
                </a:solidFill>
                <a:latin typeface="Calibri"/>
              </a:rPr>
              <a:t>TripClientTests — регресиони тест за поправљен „тихи” catch блок</a:t>
            </a:r>
          </a:p>
        </p:txBody>
      </p:sp>
      <p:pic>
        <p:nvPicPr>
          <p:cNvPr id="7" name="Picture 6" descr="v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319" y="4114800"/>
            <a:ext cx="4758882" cy="2377440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C8C82"/>
                </a:solidFill>
                <a:latin typeface="Calibri"/>
              </a:rPr>
              <a:t>ВЕРИФИКАЦИЈА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F2B"/>
                </a:solidFill>
                <a:latin typeface="Calibri"/>
              </a:rPr>
              <a:t>Доказ да тестови стварно нешто проверавају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A1F2B"/>
                </a:solidFill>
                <a:latin typeface="Calibri"/>
              </a:rPr>
              <a:t>Намерно враћен „тихи” catch блок (уклоњен LogWarning позив) — резултат: тачно 1 тест пада, остали пролазе.</a:t>
            </a:r>
          </a:p>
        </p:txBody>
      </p:sp>
      <p:pic>
        <p:nvPicPr>
          <p:cNvPr id="7" name="Picture 6" descr="fa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794049"/>
            <a:ext cx="9784080" cy="3281582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C8C82"/>
                </a:solidFill>
                <a:latin typeface="Calibri"/>
              </a:rPr>
              <a:t>ВЕРИФИКАЦИЈА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F2B"/>
                </a:solidFill>
                <a:latin typeface="Calibri"/>
              </a:rPr>
              <a:t>Демонстрациони сценарији над стварним системом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1E2E"/>
                </a:solidFill>
                <a:latin typeface="Calibri"/>
              </a:rPr>
              <a:t>Сценарио 1 — нормалан захтев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3911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A6370"/>
                </a:solidFill>
                <a:latin typeface="Calibri"/>
              </a:rPr>
              <a:t>Trace кроз три сервиса, 9 SQL child span-ова, логови повезани преко trace_id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1E2E"/>
                </a:solidFill>
                <a:latin typeface="Calibri"/>
              </a:rPr>
              <a:t>Сценарио 2 — грешка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0779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A6370"/>
                </a:solidFill>
                <a:latin typeface="Calibri"/>
              </a:rPr>
              <a:t>Health check аутоматски пријављује Unhealthy, опоравак за ~7s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290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1E2E"/>
                </a:solidFill>
                <a:latin typeface="Calibri"/>
              </a:rPr>
              <a:t>Сценарио 3 — оптерећење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7647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A6370"/>
                </a:solidFill>
                <a:latin typeface="Calibri"/>
              </a:rPr>
              <a:t>k6: 780 захтева, p95 клијент/сервер латенција 2.12s / 2.14s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1E2E"/>
                </a:solidFill>
                <a:latin typeface="Calibri"/>
              </a:rPr>
              <a:t>Сценарио 4 — спора зависност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4515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A6370"/>
                </a:solidFill>
                <a:latin typeface="Calibri"/>
              </a:rPr>
              <a:t>Trace тачно локализује узрок: 23.9s укупно, SELECT свега 14.5ms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C8C82"/>
                </a:solidFill>
                <a:latin typeface="Calibri"/>
              </a:rPr>
              <a:t>ВЕРИФИКАЦИЈА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F2B"/>
                </a:solidFill>
                <a:latin typeface="Calibri"/>
              </a:rPr>
              <a:t>Дистрибуирано праћење захтева у пракси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odop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465" y="1508760"/>
            <a:ext cx="9178590" cy="4206240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589788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A6370"/>
                </a:solidFill>
                <a:latin typeface="Calibri"/>
              </a:rPr>
              <a:t>Сценарио 1: Gateway → SharingService → TripService, са 9 угнежђених SQL упита — све аутоматски, без custom кода.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C8C82"/>
                </a:solidFill>
                <a:latin typeface="Calibri"/>
              </a:rPr>
              <a:t>ЗАКЉУЧАК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F2B"/>
                </a:solidFill>
                <a:latin typeface="Calibri"/>
              </a:rPr>
              <a:t>Шта је постигнуто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07899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1">
                <a:solidFill>
                  <a:srgbClr val="4CAF7D"/>
                </a:solidFill>
                <a:latin typeface="Calibri"/>
              </a:rPr>
              <a:t>▪  </a:t>
            </a:r>
            <a:r>
              <a:rPr sz="1700">
                <a:solidFill>
                  <a:srgbClr val="1A1F2B"/>
                </a:solidFill>
                <a:latin typeface="Calibri"/>
              </a:rPr>
              <a:t>Идентификовано 5 конкретних недостатака постојећег система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1">
                <a:solidFill>
                  <a:srgbClr val="4CAF7D"/>
                </a:solidFill>
                <a:latin typeface="Calibri"/>
              </a:rPr>
              <a:t>▪  </a:t>
            </a:r>
            <a:r>
              <a:rPr sz="1700">
                <a:solidFill>
                  <a:srgbClr val="1A1F2B"/>
                </a:solidFill>
                <a:latin typeface="Calibri"/>
              </a:rPr>
              <a:t>Имплементирана надоградња заснована на OpenTelemetry + Grafana stack-у, без измене пословне логике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1">
                <a:solidFill>
                  <a:srgbClr val="4CAF7D"/>
                </a:solidFill>
                <a:latin typeface="Calibri"/>
              </a:rPr>
              <a:t>▪  </a:t>
            </a:r>
            <a:r>
              <a:rPr sz="1700">
                <a:solidFill>
                  <a:srgbClr val="1A1F2B"/>
                </a:solidFill>
                <a:latin typeface="Calibri"/>
              </a:rPr>
              <a:t>Верификовано на два независна начина: 21 аутоматизован тест + 4 демонстрациона сценарија над стварним системом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977639"/>
            <a:ext cx="10789920" cy="1524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2062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E2E"/>
                </a:solidFill>
                <a:latin typeface="Calibri"/>
              </a:rPr>
              <a:t>Правци даљег развоја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17720"/>
            <a:ext cx="107899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2C8C82"/>
                </a:solidFill>
                <a:latin typeface="Calibri"/>
              </a:rPr>
              <a:t>▪  </a:t>
            </a:r>
            <a:r>
              <a:rPr sz="1450">
                <a:solidFill>
                  <a:srgbClr val="5A6370"/>
                </a:solidFill>
                <a:latin typeface="Calibri"/>
              </a:rPr>
              <a:t>Формално alerting решење изнад Grafana dashboard-а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2C8C82"/>
                </a:solidFill>
                <a:latin typeface="Calibri"/>
              </a:rPr>
              <a:t>▪  </a:t>
            </a:r>
            <a:r>
              <a:rPr sz="1450">
                <a:solidFill>
                  <a:srgbClr val="5A6370"/>
                </a:solidFill>
                <a:latin typeface="Calibri"/>
              </a:rPr>
              <a:t>Инструментација frontend-a ради потпуног end-to-end trace-а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2C8C82"/>
                </a:solidFill>
                <a:latin typeface="Calibri"/>
              </a:rPr>
              <a:t>▪  </a:t>
            </a:r>
            <a:r>
              <a:rPr sz="1450">
                <a:solidFill>
                  <a:srgbClr val="5A6370"/>
                </a:solidFill>
                <a:latin typeface="Calibri"/>
              </a:rPr>
              <a:t>Аутоматизација k6 load теста као дела CI/CD pipeline-а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37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Хвала на пажњи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4FD1C5"/>
                </a:solidFill>
                <a:latin typeface="Calibri"/>
              </a:rPr>
              <a:t>Питања?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